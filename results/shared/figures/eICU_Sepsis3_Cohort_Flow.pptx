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1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07730" y="749808"/>
            <a:ext cx="3761349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bIns="36576" rtlCol="0" anchor="t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1F4E79"/>
                </a:solidFill>
                <a:latin typeface="Serif"/>
              </a:rPr>
              <a:t>F</a:t>
            </a:r>
            <a:r>
              <a:rPr lang="en-US" sz="1400" b="1" dirty="0">
                <a:solidFill>
                  <a:srgbClr val="1F4E79"/>
                </a:solidFill>
                <a:latin typeface="Serif"/>
              </a:rPr>
              <a:t>0</a:t>
            </a:r>
            <a:r>
              <a:rPr sz="1400" b="1" dirty="0">
                <a:solidFill>
                  <a:srgbClr val="1F4E79"/>
                </a:solidFill>
                <a:latin typeface="Serif"/>
              </a:rPr>
              <a:t>  Unfiltered </a:t>
            </a:r>
            <a:r>
              <a:rPr sz="1400" b="1" dirty="0" err="1">
                <a:solidFill>
                  <a:srgbClr val="1F4E79"/>
                </a:solidFill>
                <a:latin typeface="Serif"/>
              </a:rPr>
              <a:t>eICU</a:t>
            </a:r>
            <a:r>
              <a:rPr sz="1400" b="1" dirty="0">
                <a:solidFill>
                  <a:srgbClr val="1F4E79"/>
                </a:solidFill>
                <a:latin typeface="Serif"/>
              </a:rPr>
              <a:t>-CRD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dirty="0">
                <a:solidFill>
                  <a:srgbClr val="141414"/>
                </a:solidFill>
                <a:latin typeface="Serif"/>
              </a:rPr>
              <a:t>200,859 stays  |  139,367 unique patients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3794760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bIns="36576" rtlCol="0" anchor="t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Serif"/>
              </a:rPr>
              <a:t>F1   Adults aged 18 years or older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141414"/>
                </a:solidFill>
                <a:latin typeface="Serif"/>
              </a:rPr>
              <a:t>200,234 stays  |  138,868 unique patients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907792"/>
            <a:ext cx="3794760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bIns="36576" rtlCol="0" anchor="t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1F4E79"/>
                </a:solidFill>
                <a:latin typeface="Serif"/>
              </a:rPr>
              <a:t>F2   ICU length of stay at least 24 hours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dirty="0">
                <a:solidFill>
                  <a:srgbClr val="141414"/>
                </a:solidFill>
                <a:latin typeface="Serif"/>
              </a:rPr>
              <a:t>132,611 stays  |  104,322 unique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986784"/>
            <a:ext cx="3794760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bIns="36576" rtlCol="0" anchor="t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1F4E79"/>
                </a:solidFill>
                <a:latin typeface="Serif"/>
              </a:rPr>
              <a:t>F3   Sepsis-3 diagnosis (APACHE)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dirty="0">
                <a:solidFill>
                  <a:srgbClr val="141414"/>
                </a:solidFill>
                <a:latin typeface="Serif"/>
              </a:rPr>
              <a:t>18,159 stays  |  16,142 unique 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731" y="4983480"/>
            <a:ext cx="3794760" cy="74980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bIns="36576" rtlCol="0" anchor="t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1F4E79"/>
                </a:solidFill>
                <a:latin typeface="Serif"/>
              </a:rPr>
              <a:t>F4   SOFA at least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F4E79"/>
                </a:solidFill>
                <a:latin typeface="Serif"/>
              </a:rPr>
              <a:t>(partial: 5 of 6 components)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dirty="0">
                <a:solidFill>
                  <a:srgbClr val="141414"/>
                </a:solidFill>
                <a:latin typeface="Serif"/>
              </a:rPr>
              <a:t>17,221 stays  |  15,535 unique 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6144768"/>
            <a:ext cx="3794760" cy="621792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bIns="36576" rtlCol="0" anchor="t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Serif"/>
              </a:rPr>
              <a:t>F5   First qualifying sepsis stay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141414"/>
                </a:solidFill>
                <a:latin typeface="Serif"/>
              </a:rPr>
              <a:t>15,535 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223760"/>
            <a:ext cx="3794760" cy="74980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bIns="36576" rtlCol="0" anchor="t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Serif"/>
              </a:rPr>
              <a:t>F6   Hospital size threshold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Serif"/>
              </a:rPr>
              <a:t>(at least 75 stays and 8 deaths)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141414"/>
                </a:solidFill>
                <a:latin typeface="Serif"/>
              </a:rPr>
              <a:t>11,164 patients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043684" y="1426464"/>
            <a:ext cx="256032" cy="274320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2043684" y="2505456"/>
            <a:ext cx="256032" cy="274320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2043684" y="3584448"/>
            <a:ext cx="256032" cy="274320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2043684" y="4663440"/>
            <a:ext cx="256032" cy="274320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2043684" y="5787688"/>
            <a:ext cx="256032" cy="274320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2043684" y="6821423"/>
            <a:ext cx="256032" cy="274320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14906" y="1856232"/>
            <a:ext cx="1600200" cy="512064"/>
          </a:xfrm>
          <a:prstGeom prst="roundRect">
            <a:avLst/>
          </a:prstGeom>
          <a:solidFill>
            <a:srgbClr val="F8DAD7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C00000"/>
                </a:solidFill>
                <a:latin typeface="Serif"/>
              </a:rPr>
              <a:t>Excluded</a:t>
            </a:r>
          </a:p>
          <a:p>
            <a:pPr algn="ctr">
              <a:spcBef>
                <a:spcPts val="0"/>
              </a:spcBef>
            </a:pPr>
            <a:r>
              <a:rPr sz="1400" dirty="0">
                <a:solidFill>
                  <a:srgbClr val="C00000"/>
                </a:solidFill>
                <a:latin typeface="Serif"/>
              </a:rPr>
              <a:t>n = 625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36253" y="2066544"/>
            <a:ext cx="411480" cy="14630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07872" y="2987979"/>
            <a:ext cx="1600200" cy="512064"/>
          </a:xfrm>
          <a:prstGeom prst="roundRect">
            <a:avLst/>
          </a:prstGeom>
          <a:solidFill>
            <a:srgbClr val="F8DAD7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Serif"/>
              </a:rPr>
              <a:t>Excluded</a:t>
            </a:r>
          </a:p>
          <a:p>
            <a:pPr algn="ctr">
              <a:spcBef>
                <a:spcPts val="0"/>
              </a:spcBef>
            </a:pPr>
            <a:r>
              <a:rPr sz="1400">
                <a:solidFill>
                  <a:srgbClr val="C00000"/>
                </a:solidFill>
                <a:latin typeface="Serif"/>
              </a:rPr>
              <a:t>n = 67,623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4906" y="3954661"/>
            <a:ext cx="1600200" cy="512064"/>
          </a:xfrm>
          <a:prstGeom prst="roundRect">
            <a:avLst/>
          </a:prstGeom>
          <a:solidFill>
            <a:srgbClr val="F8DAD7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C00000"/>
                </a:solidFill>
                <a:latin typeface="Serif"/>
              </a:rPr>
              <a:t>Excluded</a:t>
            </a:r>
          </a:p>
          <a:p>
            <a:pPr algn="ctr">
              <a:spcBef>
                <a:spcPts val="0"/>
              </a:spcBef>
            </a:pPr>
            <a:r>
              <a:rPr sz="1400" dirty="0">
                <a:solidFill>
                  <a:srgbClr val="C00000"/>
                </a:solidFill>
                <a:latin typeface="Serif"/>
              </a:rPr>
              <a:t>n = 114,452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4906" y="5047488"/>
            <a:ext cx="1600200" cy="512064"/>
          </a:xfrm>
          <a:prstGeom prst="roundRect">
            <a:avLst/>
          </a:prstGeom>
          <a:solidFill>
            <a:srgbClr val="F8DAD7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C00000"/>
                </a:solidFill>
                <a:latin typeface="Serif"/>
              </a:rPr>
              <a:t>Excluded</a:t>
            </a:r>
          </a:p>
          <a:p>
            <a:pPr algn="ctr">
              <a:spcBef>
                <a:spcPts val="0"/>
              </a:spcBef>
            </a:pPr>
            <a:r>
              <a:rPr sz="1400" dirty="0">
                <a:solidFill>
                  <a:srgbClr val="C00000"/>
                </a:solidFill>
                <a:latin typeface="Serif"/>
              </a:rPr>
              <a:t>n = 938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4906" y="6254496"/>
            <a:ext cx="1600200" cy="512064"/>
          </a:xfrm>
          <a:prstGeom prst="roundRect">
            <a:avLst/>
          </a:prstGeom>
          <a:solidFill>
            <a:srgbClr val="F8DAD7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Serif"/>
              </a:rPr>
              <a:t>Excluded</a:t>
            </a:r>
          </a:p>
          <a:p>
            <a:pPr algn="ctr">
              <a:spcBef>
                <a:spcPts val="0"/>
              </a:spcBef>
            </a:pPr>
            <a:r>
              <a:rPr sz="1400">
                <a:solidFill>
                  <a:srgbClr val="C00000"/>
                </a:solidFill>
                <a:latin typeface="Serif"/>
              </a:rPr>
              <a:t>n = 1,686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4906" y="7339828"/>
            <a:ext cx="1600200" cy="512064"/>
          </a:xfrm>
          <a:prstGeom prst="roundRect">
            <a:avLst/>
          </a:prstGeom>
          <a:solidFill>
            <a:srgbClr val="F8DAD7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C00000"/>
                </a:solidFill>
                <a:latin typeface="Serif"/>
              </a:rPr>
              <a:t>Excluded</a:t>
            </a:r>
          </a:p>
          <a:p>
            <a:pPr algn="ctr">
              <a:spcBef>
                <a:spcPts val="0"/>
              </a:spcBef>
            </a:pPr>
            <a:r>
              <a:rPr sz="1400" dirty="0">
                <a:solidFill>
                  <a:srgbClr val="C00000"/>
                </a:solidFill>
                <a:latin typeface="Serif"/>
              </a:rPr>
              <a:t>n = </a:t>
            </a:r>
            <a:r>
              <a:rPr sz="1400" b="1" dirty="0">
                <a:solidFill>
                  <a:srgbClr val="C00000"/>
                </a:solidFill>
                <a:latin typeface="Serif"/>
              </a:rPr>
              <a:t>4,371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6457" y="8478609"/>
            <a:ext cx="5943600" cy="512064"/>
          </a:xfrm>
          <a:prstGeom prst="roundRect">
            <a:avLst/>
          </a:prstGeom>
          <a:solidFill>
            <a:srgbClr val="E2EFDA"/>
          </a:solidFill>
          <a:ln w="1778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08040"/>
                </a:solidFill>
                <a:latin typeface="Serif"/>
              </a:rPr>
              <a:t>Final cohort: 11,164 patients  |  65 hospitals  |  16.88% mortality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043684" y="8101585"/>
            <a:ext cx="256032" cy="274320"/>
          </a:xfrm>
          <a:prstGeom prst="down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17">
            <a:extLst>
              <a:ext uri="{FF2B5EF4-FFF2-40B4-BE49-F238E27FC236}">
                <a16:creationId xmlns:a16="http://schemas.microsoft.com/office/drawing/2014/main" id="{694703AF-306A-19BC-EA56-78D464C6C63C}"/>
              </a:ext>
            </a:extLst>
          </p:cNvPr>
          <p:cNvSpPr/>
          <p:nvPr/>
        </p:nvSpPr>
        <p:spPr>
          <a:xfrm>
            <a:off x="4132736" y="3104741"/>
            <a:ext cx="411480" cy="14630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17">
            <a:extLst>
              <a:ext uri="{FF2B5EF4-FFF2-40B4-BE49-F238E27FC236}">
                <a16:creationId xmlns:a16="http://schemas.microsoft.com/office/drawing/2014/main" id="{79692BB8-2908-B4B9-4F06-EFC4208E35DA}"/>
              </a:ext>
            </a:extLst>
          </p:cNvPr>
          <p:cNvSpPr/>
          <p:nvPr/>
        </p:nvSpPr>
        <p:spPr>
          <a:xfrm>
            <a:off x="4102491" y="5268826"/>
            <a:ext cx="411480" cy="14630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ight Arrow 17">
            <a:extLst>
              <a:ext uri="{FF2B5EF4-FFF2-40B4-BE49-F238E27FC236}">
                <a16:creationId xmlns:a16="http://schemas.microsoft.com/office/drawing/2014/main" id="{285B8310-AE0C-8635-6E15-143D31F4241B}"/>
              </a:ext>
            </a:extLst>
          </p:cNvPr>
          <p:cNvSpPr/>
          <p:nvPr/>
        </p:nvSpPr>
        <p:spPr>
          <a:xfrm>
            <a:off x="4114800" y="4204605"/>
            <a:ext cx="411480" cy="14630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17">
            <a:extLst>
              <a:ext uri="{FF2B5EF4-FFF2-40B4-BE49-F238E27FC236}">
                <a16:creationId xmlns:a16="http://schemas.microsoft.com/office/drawing/2014/main" id="{7FD5DC68-6547-2960-B517-9FEFDFA0C724}"/>
              </a:ext>
            </a:extLst>
          </p:cNvPr>
          <p:cNvSpPr/>
          <p:nvPr/>
        </p:nvSpPr>
        <p:spPr>
          <a:xfrm>
            <a:off x="4121013" y="6437376"/>
            <a:ext cx="411480" cy="14630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ight Arrow 17">
            <a:extLst>
              <a:ext uri="{FF2B5EF4-FFF2-40B4-BE49-F238E27FC236}">
                <a16:creationId xmlns:a16="http://schemas.microsoft.com/office/drawing/2014/main" id="{3202ECA8-B04E-3239-D0C4-DB49C13781F0}"/>
              </a:ext>
            </a:extLst>
          </p:cNvPr>
          <p:cNvSpPr/>
          <p:nvPr/>
        </p:nvSpPr>
        <p:spPr>
          <a:xfrm>
            <a:off x="4138949" y="7532774"/>
            <a:ext cx="411480" cy="14630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127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Serif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Ashar Mustafa</dc:creator>
  <cp:keywords/>
  <dc:description>generated using python-pptx</dc:description>
  <cp:lastModifiedBy>Ashar Mustafa</cp:lastModifiedBy>
  <cp:revision>2</cp:revision>
  <dcterms:created xsi:type="dcterms:W3CDTF">2013-01-27T09:14:16Z</dcterms:created>
  <dcterms:modified xsi:type="dcterms:W3CDTF">2026-09-24T04:57:33Z</dcterms:modified>
  <cp:category/>
</cp:coreProperties>
</file>